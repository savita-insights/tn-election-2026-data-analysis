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AIADMK</c:v>
                </c:pt>
              </c:strCache>
            </c:strRef>
          </c:tx>
          <c:spPr>
            <a:solidFill>
              <a:srgbClr val="1A6FB5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Chennai
Metro</c:v>
                </c:pt>
                <c:pt idx="1">
                  <c:v>Kongu</c:v>
                </c:pt>
                <c:pt idx="2">
                  <c:v>Delta</c:v>
                </c:pt>
                <c:pt idx="3">
                  <c:v>North</c:v>
                </c:pt>
                <c:pt idx="4">
                  <c:v>Central</c:v>
                </c:pt>
                <c:pt idx="5">
                  <c:v>South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7</c:v>
                </c:pt>
                <c:pt idx="2">
                  <c:v>4</c:v>
                </c:pt>
                <c:pt idx="3">
                  <c:v>15</c:v>
                </c:pt>
                <c:pt idx="4">
                  <c:v>15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46-42B6-BE80-041DFB5112D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DMK</c:v>
                </c:pt>
              </c:strCache>
            </c:strRef>
          </c:tx>
          <c:spPr>
            <a:solidFill>
              <a:srgbClr val="EF9F27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Chennai
Metro</c:v>
                </c:pt>
                <c:pt idx="1">
                  <c:v>Kongu</c:v>
                </c:pt>
                <c:pt idx="2">
                  <c:v>Delta</c:v>
                </c:pt>
                <c:pt idx="3">
                  <c:v>North</c:v>
                </c:pt>
                <c:pt idx="4">
                  <c:v>Central</c:v>
                </c:pt>
                <c:pt idx="5">
                  <c:v>South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</c:v>
                </c:pt>
                <c:pt idx="1">
                  <c:v>9</c:v>
                </c:pt>
                <c:pt idx="2">
                  <c:v>14</c:v>
                </c:pt>
                <c:pt idx="3">
                  <c:v>4</c:v>
                </c:pt>
                <c:pt idx="4">
                  <c:v>8</c:v>
                </c:pt>
                <c:pt idx="5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346-42B6-BE80-041DFB5112D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TVK</c:v>
                </c:pt>
              </c:strCache>
            </c:strRef>
          </c:tx>
          <c:spPr>
            <a:solidFill>
              <a:srgbClr val="185FA5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Chennai
Metro</c:v>
                </c:pt>
                <c:pt idx="1">
                  <c:v>Kongu</c:v>
                </c:pt>
                <c:pt idx="2">
                  <c:v>Delta</c:v>
                </c:pt>
                <c:pt idx="3">
                  <c:v>North</c:v>
                </c:pt>
                <c:pt idx="4">
                  <c:v>Central</c:v>
                </c:pt>
                <c:pt idx="5">
                  <c:v>South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29</c:v>
                </c:pt>
                <c:pt idx="1">
                  <c:v>16</c:v>
                </c:pt>
                <c:pt idx="2">
                  <c:v>10</c:v>
                </c:pt>
                <c:pt idx="3">
                  <c:v>15</c:v>
                </c:pt>
                <c:pt idx="4">
                  <c:v>12</c:v>
                </c:pt>
                <c:pt idx="5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346-42B6-BE80-041DFB5112D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Chennai
Metro</c:v>
                </c:pt>
                <c:pt idx="1">
                  <c:v>Kongu</c:v>
                </c:pt>
                <c:pt idx="2">
                  <c:v>Delta</c:v>
                </c:pt>
                <c:pt idx="3">
                  <c:v>North</c:v>
                </c:pt>
                <c:pt idx="4">
                  <c:v>Central</c:v>
                </c:pt>
                <c:pt idx="5">
                  <c:v>South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</c:v>
                </c:pt>
                <c:pt idx="1">
                  <c:v>2</c:v>
                </c:pt>
                <c:pt idx="2">
                  <c:v>5</c:v>
                </c:pt>
                <c:pt idx="3">
                  <c:v>6</c:v>
                </c:pt>
                <c:pt idx="4">
                  <c:v>6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346-42B6-BE80-041DFB5112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B4C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2E4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B4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1A2E4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Seats Lost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CPI(M)</c:v>
                </c:pt>
                <c:pt idx="1">
                  <c:v>VCK</c:v>
                </c:pt>
                <c:pt idx="2">
                  <c:v>PMK</c:v>
                </c:pt>
                <c:pt idx="3">
                  <c:v>BJP</c:v>
                </c:pt>
                <c:pt idx="4">
                  <c:v>INC</c:v>
                </c:pt>
                <c:pt idx="5">
                  <c:v>AIADMK</c:v>
                </c:pt>
                <c:pt idx="6">
                  <c:v>DMK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3</c:v>
                </c:pt>
                <c:pt idx="2">
                  <c:v>4</c:v>
                </c:pt>
                <c:pt idx="3">
                  <c:v>4</c:v>
                </c:pt>
                <c:pt idx="4">
                  <c:v>14</c:v>
                </c:pt>
                <c:pt idx="5">
                  <c:v>44</c:v>
                </c:pt>
                <c:pt idx="6">
                  <c:v>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7A-455E-9DF4-2A6A153BCD6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B4C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A2E4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B4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2E4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Seats Gained</c:v>
                </c:pt>
              </c:strCache>
            </c:strRef>
          </c:tx>
          <c:spPr>
            <a:solidFill>
              <a:srgbClr val="2DC65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DMDK</c:v>
                </c:pt>
                <c:pt idx="1">
                  <c:v>CPI(M)</c:v>
                </c:pt>
                <c:pt idx="2">
                  <c:v>BJP</c:v>
                </c:pt>
                <c:pt idx="3">
                  <c:v>AMMK</c:v>
                </c:pt>
                <c:pt idx="4">
                  <c:v>IUML</c:v>
                </c:pt>
                <c:pt idx="5">
                  <c:v>PMK</c:v>
                </c:pt>
                <c:pt idx="6">
                  <c:v>DMK</c:v>
                </c:pt>
                <c:pt idx="7">
                  <c:v>AIADMK</c:v>
                </c:pt>
                <c:pt idx="8">
                  <c:v>TVK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2</c:v>
                </c:pt>
                <c:pt idx="5">
                  <c:v>3</c:v>
                </c:pt>
                <c:pt idx="6">
                  <c:v>19</c:v>
                </c:pt>
                <c:pt idx="7">
                  <c:v>25</c:v>
                </c:pt>
                <c:pt idx="8">
                  <c:v>108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5E-4BC2-9B50-B18C99EA38A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B4C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A2E4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B4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2E45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Constituencies</c:v>
                </c:pt>
              </c:strCache>
            </c:strRef>
          </c:tx>
          <c:spPr>
            <a:solidFill>
              <a:srgbClr val="185FA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0-5K
(Very Close)</c:v>
                </c:pt>
                <c:pt idx="1">
                  <c:v>5K-15K
(Moderate)</c:v>
                </c:pt>
                <c:pt idx="2">
                  <c:v>15K-30K
(Comfortable)</c:v>
                </c:pt>
                <c:pt idx="3">
                  <c:v>30K-50K
(Strong)</c:v>
                </c:pt>
                <c:pt idx="4">
                  <c:v>50K+
(Landslide)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64</c:v>
                </c:pt>
                <c:pt idx="1">
                  <c:v>107</c:v>
                </c:pt>
                <c:pt idx="2">
                  <c:v>41</c:v>
                </c:pt>
                <c:pt idx="3">
                  <c:v>16</c:v>
                </c:pt>
                <c:pt idx="4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A5-44E6-9644-691219E2B5C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B4C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2E4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B4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2E45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Flip %</c:v>
                </c:pt>
              </c:strCache>
            </c:strRef>
          </c:tx>
          <c:spPr>
            <a:solidFill>
              <a:srgbClr val="185FA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E02-4B1B-8247-360C7EA31F9E}"/>
              </c:ext>
            </c:extLst>
          </c:dPt>
          <c:dPt>
            <c:idx val="1"/>
            <c:invertIfNegative val="0"/>
            <c:bubble3D val="0"/>
            <c:spPr>
              <a:solidFill>
                <a:srgbClr val="EF9F2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E02-4B1B-8247-360C7EA31F9E}"/>
              </c:ext>
            </c:extLst>
          </c:dPt>
          <c:dPt>
            <c:idx val="2"/>
            <c:invertIfNegative val="0"/>
            <c:bubble3D val="0"/>
            <c:spPr>
              <a:solidFill>
                <a:srgbClr val="A8DAD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E02-4B1B-8247-360C7EA31F9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GEN Seats</c:v>
                </c:pt>
                <c:pt idx="1">
                  <c:v>SC Seats</c:v>
                </c:pt>
                <c:pt idx="2">
                  <c:v>ST Seats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30.32</c:v>
                </c:pt>
                <c:pt idx="1">
                  <c:v>29.55</c:v>
                </c:pt>
                <c:pt idx="2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E02-4B1B-8247-360C7EA31F9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B4C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A2E4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B4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2E4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0676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52551-2B1D-B9ED-2295-4FAE2D034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0490FB-3E45-CC14-844F-FE10BF5243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3DE8EA-0FA8-296A-CA13-810441651E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F8AD4-045B-BAF3-B01E-0489C58242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7933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49D29D-42F6-F45C-94B3-B48B9F359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15">
            <a:extLst>
              <a:ext uri="{FF2B5EF4-FFF2-40B4-BE49-F238E27FC236}">
                <a16:creationId xmlns:a16="http://schemas.microsoft.com/office/drawing/2014/main" id="{FC783E57-6034-F789-D7B9-E87FD36A4E0C}"/>
              </a:ext>
            </a:extLst>
          </p:cNvPr>
          <p:cNvSpPr/>
          <p:nvPr/>
        </p:nvSpPr>
        <p:spPr>
          <a:xfrm>
            <a:off x="6035040" y="12984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03  CLOSE WITH</a:t>
            </a:r>
            <a:endParaRPr lang="en-US" sz="900" dirty="0"/>
          </a:p>
        </p:txBody>
      </p:sp>
      <p:sp>
        <p:nvSpPr>
          <p:cNvPr id="22" name="Shape 202">
            <a:extLst>
              <a:ext uri="{FF2B5EF4-FFF2-40B4-BE49-F238E27FC236}">
                <a16:creationId xmlns:a16="http://schemas.microsoft.com/office/drawing/2014/main" id="{5EF88FDB-7A25-AA44-B92D-6317AB7789DC}"/>
              </a:ext>
            </a:extLst>
          </p:cNvPr>
          <p:cNvSpPr/>
          <p:nvPr/>
        </p:nvSpPr>
        <p:spPr>
          <a:xfrm>
            <a:off x="1198179" y="1371600"/>
            <a:ext cx="6957849" cy="2874577"/>
          </a:xfrm>
          <a:prstGeom prst="rect">
            <a:avLst/>
          </a:prstGeom>
          <a:solidFill>
            <a:srgbClr val="1A2E45"/>
          </a:solidFill>
          <a:ln w="12700">
            <a:solidFill>
              <a:srgbClr val="EF9F27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FFFFFF"/>
                </a:solidFill>
              </a:rPr>
              <a:t>This presentation is based entirely on publicly available election data from the 2021 and 2026 Tamil Nadu Legislative Assembly elections, sourced from the Election Commission of India (ECI).</a:t>
            </a:r>
            <a:endParaRPr lang="en-US" sz="12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FFFFFF"/>
                </a:solidFill>
              </a:rPr>
              <a:t>Any reference to political parties, elected representatives, or communities appears solely for the purpose of data analysis and factual reporting. No political position, opinion, or endorsement — implicit or explicit — is intended.</a:t>
            </a:r>
            <a:endParaRPr lang="en-US" sz="12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FFFFFF"/>
                </a:solidFill>
              </a:rPr>
              <a:t>This is an independent, amateur data analytics project created as part of the Codebasics Resume Project Challenge #21. It is non-partisan, non-commercial, and built in the spirit of learning.</a:t>
            </a:r>
            <a:endParaRPr lang="en-US" sz="12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FFFFFF"/>
                </a:solidFill>
              </a:rPr>
              <a:t>If anything in this presentation has come across as unintentionally incorrect, misrepresented, or insensitive — I sincerely </a:t>
            </a:r>
            <a:r>
              <a:rPr lang="en-US" sz="1200" dirty="0" err="1">
                <a:solidFill>
                  <a:srgbClr val="FFFFFF"/>
                </a:solidFill>
              </a:rPr>
              <a:t>apologise</a:t>
            </a:r>
            <a:r>
              <a:rPr lang="en-US" sz="1200" dirty="0">
                <a:solidFill>
                  <a:srgbClr val="FFFFFF"/>
                </a:solidFill>
              </a:rPr>
              <a:t>. That was never the intent. The goal was only to let the data speak.</a:t>
            </a:r>
            <a:endParaRPr lang="en-US" sz="1200" dirty="0"/>
          </a:p>
        </p:txBody>
      </p:sp>
      <p:sp>
        <p:nvSpPr>
          <p:cNvPr id="23" name="Text 201">
            <a:extLst>
              <a:ext uri="{FF2B5EF4-FFF2-40B4-BE49-F238E27FC236}">
                <a16:creationId xmlns:a16="http://schemas.microsoft.com/office/drawing/2014/main" id="{FE4B2934-C3B5-1CA7-67FA-2371DB3B8968}"/>
              </a:ext>
            </a:extLst>
          </p:cNvPr>
          <p:cNvSpPr/>
          <p:nvPr/>
        </p:nvSpPr>
        <p:spPr>
          <a:xfrm>
            <a:off x="1371600" y="658368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DISCLAIMER</a:t>
            </a:r>
            <a:endParaRPr lang="en-US" sz="2600" dirty="0"/>
          </a:p>
        </p:txBody>
      </p:sp>
      <p:sp>
        <p:nvSpPr>
          <p:cNvPr id="24" name="Shape 200">
            <a:extLst>
              <a:ext uri="{FF2B5EF4-FFF2-40B4-BE49-F238E27FC236}">
                <a16:creationId xmlns:a16="http://schemas.microsoft.com/office/drawing/2014/main" id="{1531F02F-2D17-4C02-ABD8-C9EAD93C5557}"/>
              </a:ext>
            </a:extLst>
          </p:cNvPr>
          <p:cNvSpPr/>
          <p:nvPr/>
        </p:nvSpPr>
        <p:spPr>
          <a:xfrm>
            <a:off x="1371600" y="502920"/>
            <a:ext cx="6400800" cy="7315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05">
            <a:extLst>
              <a:ext uri="{FF2B5EF4-FFF2-40B4-BE49-F238E27FC236}">
                <a16:creationId xmlns:a16="http://schemas.microsoft.com/office/drawing/2014/main" id="{3B62B75C-015D-7BB6-46D7-24CFACE6E0BD}"/>
              </a:ext>
            </a:extLst>
          </p:cNvPr>
          <p:cNvSpPr/>
          <p:nvPr/>
        </p:nvSpPr>
        <p:spPr>
          <a:xfrm>
            <a:off x="1371600" y="47000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070"/>
                </a:solidFill>
              </a:rPr>
              <a:t>Codebasics RPC #21  ·  Data: Election Commission of India  ·  Non-Partisan Analytics Only</a:t>
            </a:r>
            <a:endParaRPr lang="en-US" sz="800" dirty="0"/>
          </a:p>
        </p:txBody>
      </p:sp>
      <p:sp>
        <p:nvSpPr>
          <p:cNvPr id="26" name="Shape 204">
            <a:extLst>
              <a:ext uri="{FF2B5EF4-FFF2-40B4-BE49-F238E27FC236}">
                <a16:creationId xmlns:a16="http://schemas.microsoft.com/office/drawing/2014/main" id="{431509E7-217A-BE45-BF6E-87A8ED38FCAF}"/>
              </a:ext>
            </a:extLst>
          </p:cNvPr>
          <p:cNvSpPr/>
          <p:nvPr/>
        </p:nvSpPr>
        <p:spPr>
          <a:xfrm>
            <a:off x="1198179" y="4329842"/>
            <a:ext cx="6957849" cy="0"/>
          </a:xfrm>
          <a:prstGeom prst="line">
            <a:avLst/>
          </a:prstGeom>
          <a:noFill/>
          <a:ln w="1016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3647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54864" cy="274320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64592"/>
            <a:ext cx="2011680" cy="41148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645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ATLIQ MEDIA  EXCLUSIVE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766560" y="164592"/>
            <a:ext cx="2011680" cy="411480"/>
          </a:xfrm>
          <a:prstGeom prst="rect">
            <a:avLst/>
          </a:prstGeom>
          <a:solidFill>
            <a:srgbClr val="1A2E4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766560" y="1645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A8DADC"/>
                </a:solidFill>
              </a:rPr>
              <a:t>DATA: ELECTION COMMISSION OF INDIA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640080" y="100584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3600" b="1" kern="0" spc="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DECODING THE</a:t>
            </a:r>
            <a:endParaRPr lang="en-US" sz="36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3600" b="1" kern="0" spc="300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 TAMIL NADU</a:t>
            </a:r>
            <a:endParaRPr lang="en-US" sz="36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3600" b="1" kern="0" spc="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ASSEMBLY ELECTION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40080" y="3429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Map Changed  ·  Who Flipped  ·  By How Much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2E4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8B4C0"/>
                </a:solidFill>
              </a:rPr>
              <a:t>A NON-PARTISAN DATA STORY  |  234 CONSTITUENCIES  |  ECI DATA ONLY  |  2021 vs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280160" cy="29260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THE BRIEF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Assignment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160520" cy="320040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160520" cy="34747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THE CLIENT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3886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EF9F27"/>
                </a:solidFill>
              </a:rPr>
              <a:t>AtliQ Media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 national news network producing a one-hour TV show on the 2026 Tamil Nadu Assembly results.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200" i="1" dirty="0">
                <a:solidFill>
                  <a:srgbClr val="A8DADC"/>
                </a:solidFill>
              </a:rPr>
              <a:t>No debates. No commentary. No predictions.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Only public ECI data. Only the facts.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846320" y="1325880"/>
            <a:ext cx="3840480" cy="320040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846320" y="1325880"/>
            <a:ext cx="3840480" cy="34747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46320" y="13258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THE 3 STORIES I FOUND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83480" y="1828800"/>
            <a:ext cx="411480" cy="41148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98348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01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0" y="182880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THE GEOGRAPHIC STORY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0" y="2048256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8B4C0"/>
                </a:solidFill>
              </a:rPr>
              <a:t>How did the map shift across 6 regions?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983480" y="2697480"/>
            <a:ext cx="411480" cy="41148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98348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02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0" y="26974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THE FLIP STORY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0" y="2916936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8B4C0"/>
                </a:solidFill>
              </a:rPr>
              <a:t>In how many seats did the winner change?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983480" y="3566160"/>
            <a:ext cx="411480" cy="41148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98348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0" y="35661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THE MARGIN STORY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0" y="3785616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8B4C0"/>
                </a:solidFill>
              </a:rPr>
              <a:t>How decisive — or close — were the wins?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F9F27"/>
                </a:solidFill>
              </a:rPr>
              <a:t>"Behind every election result is a number. Behind every number is a story. This dashboard tells three."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9260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THE NUMBERS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the story — here is the scale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1965960" cy="237744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1965960" cy="9144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1600200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85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234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274320" y="2606040"/>
            <a:ext cx="19659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B4C0"/>
                </a:solidFill>
              </a:rPr>
              <a:t>Constituencies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8B4C0"/>
                </a:solidFill>
              </a:rPr>
              <a:t>Analysed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50592" y="1371600"/>
            <a:ext cx="1965960" cy="237744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450592" y="1371600"/>
            <a:ext cx="1965960" cy="914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450592" y="1600200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163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2450592" y="2606040"/>
            <a:ext cx="19659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B4C0"/>
                </a:solidFill>
              </a:rPr>
              <a:t>Seats That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8B4C0"/>
                </a:solidFill>
              </a:rPr>
              <a:t>Changed Hands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26864" y="1371600"/>
            <a:ext cx="1965960" cy="237744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626864" y="1371600"/>
            <a:ext cx="1965960" cy="9144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626864" y="1600200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69.7%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4626864" y="2606040"/>
            <a:ext cx="19659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B4C0"/>
                </a:solidFill>
              </a:rPr>
              <a:t>Flip Rate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8B4C0"/>
                </a:solidFill>
              </a:rPr>
              <a:t>(1 in 2 seats)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03136" y="1371600"/>
            <a:ext cx="1965960" cy="237744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803136" y="1371600"/>
            <a:ext cx="1965960" cy="91440"/>
          </a:xfrm>
          <a:prstGeom prst="rect">
            <a:avLst/>
          </a:prstGeom>
          <a:solidFill>
            <a:srgbClr val="A8DADC"/>
          </a:solidFill>
          <a:ln w="12700">
            <a:solidFill>
              <a:srgbClr val="A8DA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803136" y="1600200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A8DA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16.8K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6803136" y="2606040"/>
            <a:ext cx="19659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B4C0"/>
                </a:solidFill>
              </a:rPr>
              <a:t>Avg Win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8B4C0"/>
                </a:solidFill>
              </a:rPr>
              <a:t>Margin 2026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931920"/>
            <a:ext cx="8595360" cy="822960"/>
          </a:xfrm>
          <a:prstGeom prst="rect">
            <a:avLst/>
          </a:prstGeom>
          <a:solidFill>
            <a:srgbClr val="112236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74320" y="393192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FFFFFF"/>
                </a:solidFill>
              </a:rPr>
              <a:t>Avg Win Margin dropped from  22.87K (2021)  →  16.8K (2026)  — Tamil Nadu voted closer in 2026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011680" cy="29260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STORY 1 — THE 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Map Looked Nothing Like 2021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8B4C0"/>
                </a:solidFill>
              </a:rPr>
              <a:t>6 regions. Every single one shifted. Here is by how much.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481328"/>
          <a:ext cx="51206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669280" y="1481328"/>
            <a:ext cx="3200400" cy="960120"/>
          </a:xfrm>
          <a:prstGeom prst="rect">
            <a:avLst/>
          </a:prstGeom>
          <a:solidFill>
            <a:srgbClr val="1A2E45"/>
          </a:solidFill>
          <a:ln w="12700">
            <a:solidFill>
              <a:srgbClr val="EF9F2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5669280" y="1481328"/>
            <a:ext cx="64008" cy="96012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806440" y="151790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9F27"/>
                </a:solidFill>
              </a:rPr>
              <a:t>Chennai Metro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06440" y="1755648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Flipped completely.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TVK took 91% of seats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that AIADMK once dominated.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669280" y="2596896"/>
            <a:ext cx="3200400" cy="960120"/>
          </a:xfrm>
          <a:prstGeom prst="rect">
            <a:avLst/>
          </a:prstGeom>
          <a:solidFill>
            <a:srgbClr val="1A2E45"/>
          </a:solidFill>
          <a:ln w="12700">
            <a:solidFill>
              <a:srgbClr val="A8DAD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5669280" y="2596896"/>
            <a:ext cx="64008" cy="960120"/>
          </a:xfrm>
          <a:prstGeom prst="rect">
            <a:avLst/>
          </a:prstGeom>
          <a:solidFill>
            <a:srgbClr val="A8DADC"/>
          </a:solidFill>
          <a:ln w="12700">
            <a:solidFill>
              <a:srgbClr val="A8DA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806440" y="263347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DADC"/>
                </a:solidFill>
              </a:rPr>
              <a:t>Kongu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806440" y="2871216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TVK won 48% of Kongu.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A region with no TVK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presence in 2021.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669280" y="3712464"/>
            <a:ext cx="3200400" cy="960120"/>
          </a:xfrm>
          <a:prstGeom prst="rect">
            <a:avLst/>
          </a:prstGeom>
          <a:solidFill>
            <a:srgbClr val="1A2E45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5669280" y="3712464"/>
            <a:ext cx="64008" cy="9601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806440" y="37490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</a:rPr>
              <a:t>South TN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806440" y="3986784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Highest seat count — 58.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TVK won 26 of those.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The wave hit hardest here.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194560" cy="2926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STORY 2 — THE FLIPS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163 Seats Changed Hands.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8B4C0"/>
                </a:solidFill>
              </a:rPr>
              <a:t>That is nearly 7 in every 10 seats — a political map redrawn overnight.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Which Parties Lost Seats</a:t>
            </a:r>
            <a:endParaRPr lang="en-US" sz="11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65760" y="1755648"/>
          <a:ext cx="411480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4754880" y="14630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Which Parties Gained Seats</a:t>
            </a:r>
            <a:endParaRPr lang="en-US" sz="11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4754880" y="1755648"/>
          <a:ext cx="411480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4526280" y="1463040"/>
            <a:ext cx="0" cy="3200400"/>
          </a:xfrm>
          <a:prstGeom prst="line">
            <a:avLst/>
          </a:prstGeom>
          <a:noFill/>
          <a:ln w="19050">
            <a:solidFill>
              <a:srgbClr val="1A2E45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365760" y="4526280"/>
            <a:ext cx="8412480" cy="475488"/>
          </a:xfrm>
          <a:prstGeom prst="rect">
            <a:avLst/>
          </a:prstGeom>
          <a:solidFill>
            <a:srgbClr val="11223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365760" y="45262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F9F27"/>
                </a:solidFill>
              </a:rPr>
              <a:t>TVK — a party that did not exist in 2021 — picked up 108 seats in their debut election.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377440" cy="292608"/>
          </a:xfrm>
          <a:prstGeom prst="rect">
            <a:avLst/>
          </a:prstGeom>
          <a:solidFill>
            <a:srgbClr val="A8DADC"/>
          </a:solidFill>
          <a:ln w="12700">
            <a:solidFill>
              <a:srgbClr val="A8DA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STORY 3 — MARGINS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 Was a More Contested Election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8B4C0"/>
                </a:solidFill>
              </a:rPr>
              <a:t>Average margins shrank. Most wins were moderate. But the extremes were more extreme.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Win Margin Distribution — 2026</a:t>
            </a:r>
            <a:endParaRPr lang="en-US" sz="11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65760" y="1737360"/>
          <a:ext cx="493776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577840" y="1463040"/>
            <a:ext cx="3200400" cy="868680"/>
          </a:xfrm>
          <a:prstGeom prst="rect">
            <a:avLst/>
          </a:prstGeom>
          <a:solidFill>
            <a:srgbClr val="1A2E45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623560" y="1499616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138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623560" y="192024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A8B4C0"/>
                </a:solidFill>
              </a:rPr>
              <a:t>Votes — smallest margin</a:t>
            </a:r>
            <a:endParaRPr lang="en-US" sz="9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A8B4C0"/>
                </a:solidFill>
              </a:rPr>
              <a:t>(Veppanahalli)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577840" y="2468880"/>
            <a:ext cx="3200400" cy="868680"/>
          </a:xfrm>
          <a:prstGeom prst="rect">
            <a:avLst/>
          </a:prstGeom>
          <a:solidFill>
            <a:srgbClr val="1A2E45"/>
          </a:solidFill>
          <a:ln w="12700">
            <a:solidFill>
              <a:srgbClr val="2DC65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623560" y="2505456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DC6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98K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5623560" y="292608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A8B4C0"/>
                </a:solidFill>
              </a:rPr>
              <a:t>Votes — largest margin</a:t>
            </a:r>
            <a:endParaRPr lang="en-US" sz="9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A8B4C0"/>
                </a:solidFill>
              </a:rPr>
              <a:t>(Edapadi)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577840" y="3474720"/>
            <a:ext cx="3200400" cy="868680"/>
          </a:xfrm>
          <a:prstGeom prst="rect">
            <a:avLst/>
          </a:prstGeom>
          <a:solidFill>
            <a:srgbClr val="1A2E45"/>
          </a:solidFill>
          <a:ln w="12700">
            <a:solidFill>
              <a:srgbClr val="EF9F2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5623560" y="3511296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22.87K→16.8K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5623560" y="393192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A8B4C0"/>
                </a:solidFill>
              </a:rPr>
              <a:t>Avg margin fell</a:t>
            </a:r>
            <a:endParaRPr lang="en-US" sz="9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A8B4C0"/>
                </a:solidFill>
              </a:rPr>
              <a:t>2021 → 2026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65760" y="4526280"/>
            <a:ext cx="8412480" cy="475488"/>
          </a:xfrm>
          <a:prstGeom prst="rect">
            <a:avLst/>
          </a:prstGeom>
          <a:solidFill>
            <a:srgbClr val="112236"/>
          </a:solidFill>
          <a:ln w="12700">
            <a:solidFill>
              <a:srgbClr val="A8DA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365760" y="45262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</a:rPr>
              <a:t>64 seats were won by less than 5,000 votes — decided by margins thinner than a postal ballot batch.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560320" cy="292608"/>
          </a:xfrm>
          <a:prstGeom prst="rect">
            <a:avLst/>
          </a:prstGeom>
          <a:solidFill>
            <a:srgbClr val="A8B4C0"/>
          </a:solidFill>
          <a:ln w="12700">
            <a:solidFill>
              <a:srgbClr val="A8B4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BONUS — RESERVED SEATS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Did Reserved Constituencies Vote Differently?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8B4C0"/>
                </a:solidFill>
              </a:rPr>
              <a:t>Tamil Nadu has 44 SC + 2 ST reserved seats. The answer: not significantly — the wave was uniform.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Flip Rate by Seat Category</a:t>
            </a:r>
            <a:endParaRPr lang="en-US" sz="11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65760" y="1737360"/>
          <a:ext cx="41148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029200" y="1463040"/>
            <a:ext cx="3749040" cy="777240"/>
          </a:xfrm>
          <a:prstGeom prst="rect">
            <a:avLst/>
          </a:prstGeom>
          <a:solidFill>
            <a:srgbClr val="1A2E45"/>
          </a:solidFill>
          <a:ln w="12700">
            <a:solidFill>
              <a:srgbClr val="EF9F2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074920" y="1490472"/>
            <a:ext cx="1371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6446520" y="1554480"/>
            <a:ext cx="0" cy="594360"/>
          </a:xfrm>
          <a:prstGeom prst="line">
            <a:avLst/>
          </a:prstGeom>
          <a:noFill/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537960" y="15544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SC Reserved Seats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29200" y="2377440"/>
            <a:ext cx="3749040" cy="777240"/>
          </a:xfrm>
          <a:prstGeom prst="rect">
            <a:avLst/>
          </a:prstGeom>
          <a:solidFill>
            <a:srgbClr val="1A2E45"/>
          </a:solidFill>
          <a:ln w="12700">
            <a:solidFill>
              <a:srgbClr val="185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074920" y="2404872"/>
            <a:ext cx="1371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85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29.5%</a:t>
            </a:r>
            <a:endParaRPr lang="en-US" sz="2600" dirty="0"/>
          </a:p>
        </p:txBody>
      </p:sp>
      <p:sp>
        <p:nvSpPr>
          <p:cNvPr id="14" name="Shape 11"/>
          <p:cNvSpPr/>
          <p:nvPr/>
        </p:nvSpPr>
        <p:spPr>
          <a:xfrm>
            <a:off x="6446520" y="2468880"/>
            <a:ext cx="0" cy="594360"/>
          </a:xfrm>
          <a:prstGeom prst="line">
            <a:avLst/>
          </a:prstGeom>
          <a:noFill/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537960" y="24688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SC seats flipped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(vs 30.3% GEN)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29200" y="3291840"/>
            <a:ext cx="3749040" cy="777240"/>
          </a:xfrm>
          <a:prstGeom prst="rect">
            <a:avLst/>
          </a:prstGeom>
          <a:solidFill>
            <a:srgbClr val="1A2E45"/>
          </a:solidFill>
          <a:ln w="12700">
            <a:solidFill>
              <a:srgbClr val="A8DAD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74920" y="3319272"/>
            <a:ext cx="1371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8DA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14.2K</a:t>
            </a:r>
            <a:endParaRPr lang="en-US" sz="2600" dirty="0"/>
          </a:p>
        </p:txBody>
      </p:sp>
      <p:sp>
        <p:nvSpPr>
          <p:cNvPr id="18" name="Shape 15"/>
          <p:cNvSpPr/>
          <p:nvPr/>
        </p:nvSpPr>
        <p:spPr>
          <a:xfrm>
            <a:off x="6446520" y="3383280"/>
            <a:ext cx="0" cy="594360"/>
          </a:xfrm>
          <a:prstGeom prst="line">
            <a:avLst/>
          </a:prstGeom>
          <a:noFill/>
          <a:ln w="12700">
            <a:solidFill>
              <a:srgbClr val="A8DA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537960" y="33832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Avg SC margin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(vs 17.5K GEN)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65760" y="4526280"/>
            <a:ext cx="8412480" cy="475488"/>
          </a:xfrm>
          <a:prstGeom prst="rect">
            <a:avLst/>
          </a:prstGeom>
          <a:solidFill>
            <a:srgbClr val="112236"/>
          </a:solidFill>
          <a:ln w="12700">
            <a:solidFill>
              <a:srgbClr val="A8B4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365760" y="45262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</a:rPr>
              <a:t>Reserved constituencies were not insulated from the 2026 wave. They moved in parallel with general seats.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194560" cy="292608"/>
          </a:xfrm>
          <a:prstGeom prst="rect">
            <a:avLst/>
          </a:prstGeom>
          <a:solidFill>
            <a:srgbClr val="A8B4C0"/>
          </a:solidFill>
          <a:ln w="12700">
            <a:solidFill>
              <a:srgbClr val="A8B4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LIMITATIONS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Data Cannot Tell You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8B4C0"/>
                </a:solidFill>
              </a:rPr>
              <a:t>Every honest analysis has a boundary. Here is where this one ends.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4114800" cy="1261872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347472" cy="1261872"/>
          </a:xfrm>
          <a:prstGeom prst="rect">
            <a:avLst/>
          </a:prstGeom>
          <a:solidFill>
            <a:srgbClr val="112236"/>
          </a:solidFill>
          <a:ln w="12700">
            <a:solidFill>
              <a:srgbClr val="11223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1572768"/>
            <a:ext cx="347472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3946"/>
                </a:solidFill>
              </a:rPr>
              <a:t>✗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16642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9F27"/>
                </a:solidFill>
              </a:rPr>
              <a:t>No causal claims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9202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This analysis shows what happened — not why. Vote swings, alliances, and candidate factors are outside the scope of ECI data.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990088"/>
            <a:ext cx="4114800" cy="1261872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65760" y="2990088"/>
            <a:ext cx="347472" cy="1261872"/>
          </a:xfrm>
          <a:prstGeom prst="rect">
            <a:avLst/>
          </a:prstGeom>
          <a:solidFill>
            <a:srgbClr val="112236"/>
          </a:solidFill>
          <a:ln w="12700">
            <a:solidFill>
              <a:srgbClr val="11223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65760" y="2990088"/>
            <a:ext cx="347472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3946"/>
                </a:solidFill>
              </a:rPr>
              <a:t>✗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" y="30815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9F27"/>
                </a:solidFill>
              </a:rPr>
              <a:t>2026 turnout not in source data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33375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The tn_2026_results.csv did not include constituency turnout. Turnout analysis would require Form-20 data from ECI directly.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1572768"/>
            <a:ext cx="4114800" cy="1261872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754880" y="1572768"/>
            <a:ext cx="347472" cy="1261872"/>
          </a:xfrm>
          <a:prstGeom prst="rect">
            <a:avLst/>
          </a:prstGeom>
          <a:solidFill>
            <a:srgbClr val="112236"/>
          </a:solidFill>
          <a:ln w="12700">
            <a:solidFill>
              <a:srgbClr val="11223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754880" y="1572768"/>
            <a:ext cx="347472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3946"/>
                </a:solidFill>
              </a:rPr>
              <a:t>✗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166360" y="16642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9F27"/>
                </a:solidFill>
              </a:rPr>
              <a:t>Pre-Form 20 data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66360" y="19202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2026 results were sourced from the ECI live portal before final Form-20 audit. Minor vote count variations may exist in the final certified data.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2990088"/>
            <a:ext cx="4114800" cy="1261872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754880" y="2990088"/>
            <a:ext cx="347472" cy="1261872"/>
          </a:xfrm>
          <a:prstGeom prst="rect">
            <a:avLst/>
          </a:prstGeom>
          <a:solidFill>
            <a:srgbClr val="112236"/>
          </a:solidFill>
          <a:ln w="12700">
            <a:solidFill>
              <a:srgbClr val="11223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754880" y="2990088"/>
            <a:ext cx="347472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3946"/>
                </a:solidFill>
              </a:rPr>
              <a:t>✗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166360" y="30815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9F27"/>
                </a:solidFill>
              </a:rPr>
              <a:t>No demographic data used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66360" y="33375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Census boundary and demographic data were intentionally excluded to maintain neutrality and avoid unverifiable inference.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8B4C0"/>
                </a:solidFill>
              </a:rPr>
              <a:t>All data used in this analysis is publicly available on the Election Commission of India portal: results.eci.gov.in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926080" cy="29260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EDITORIAL RECOMMENDATION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Pitch to AtliQ Media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2743200" cy="3291840"/>
          </a:xfrm>
          <a:prstGeom prst="rect">
            <a:avLst/>
          </a:prstGeom>
          <a:solidFill>
            <a:srgbClr val="1A2E45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2743200" cy="411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12984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01  OPEN WITH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4048" y="1801368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163 Number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" y="2212848"/>
            <a:ext cx="254203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Start the show with just the number 163 on a black screen. No music. No graphics. Then the anchor says: '163 seats changed hands in a single night.' That silence earns the audience.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1298448"/>
            <a:ext cx="2743200" cy="3291840"/>
          </a:xfrm>
          <a:prstGeom prst="rect">
            <a:avLst/>
          </a:prstGeom>
          <a:solidFill>
            <a:srgbClr val="1A2E45"/>
          </a:solidFill>
          <a:ln w="12700">
            <a:solidFill>
              <a:srgbClr val="185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154680" y="1298448"/>
            <a:ext cx="2743200" cy="41148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154680" y="12984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  THE MIDDLE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64408" y="1801368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5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the Map First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64408" y="2212848"/>
            <a:ext cx="254203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Regional breakdown before party breakdown. Viewers understand geography. Show Chennai Metro's complete reversal, then Kongu, then South TN. Let the map tell the party story.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298448"/>
            <a:ext cx="2743200" cy="3291840"/>
          </a:xfrm>
          <a:prstGeom prst="rect">
            <a:avLst/>
          </a:prstGeom>
          <a:solidFill>
            <a:srgbClr val="1A2E45"/>
          </a:solidFill>
          <a:ln w="12700">
            <a:solidFill>
              <a:srgbClr val="EF9F2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035040" y="1298448"/>
            <a:ext cx="2743200" cy="41148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035040" y="12984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03  CLOSE WITH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44768" y="1801368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Margin Stat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44768" y="2212848"/>
            <a:ext cx="254203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End on Veppanahalli — 138 votes. Tell the audience that in one Tamil Nadu constituency, a single classroom of voters could have changed the result. That is the number they remember tomorrow.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4681728"/>
            <a:ext cx="8595360" cy="384048"/>
          </a:xfrm>
          <a:prstGeom prst="rect">
            <a:avLst/>
          </a:prstGeom>
          <a:solidFill>
            <a:srgbClr val="112236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74320" y="468172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EF9F27"/>
                </a:solidFill>
              </a:rPr>
              <a:t>These three segments can run back-to-back as a clean 45-minute segment — no commentary needed.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320540"/>
            <a:ext cx="9144000" cy="82296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54864" cy="310896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13232" y="914400"/>
            <a:ext cx="7772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3400" b="1" kern="0" spc="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STORIES.</a:t>
            </a:r>
            <a:endParaRPr lang="en-US" sz="3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3400" b="1" kern="0" spc="400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MAP.</a:t>
            </a:r>
            <a:endParaRPr lang="en-US" sz="3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3400" b="1" kern="0" spc="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234 CONSTITUENCIES.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292608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A8DADC"/>
                </a:solidFill>
              </a:rPr>
              <a:t>"Behind every election result is a number.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A8DADC"/>
                </a:solidFill>
              </a:rPr>
              <a:t>Behind every number is a story.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A8DADC"/>
                </a:solidFill>
              </a:rPr>
              <a:t>This dashboard tells three."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B4C0"/>
                </a:solidFill>
              </a:rPr>
              <a:t>Codebasics Resume Project Challenge #21  |  Data: Election Commission of India  |  Dashboard: Power BI</a:t>
            </a:r>
            <a:endParaRPr lang="en-US" sz="850" dirty="0"/>
          </a:p>
        </p:txBody>
      </p:sp>
      <p:sp>
        <p:nvSpPr>
          <p:cNvPr id="9" name="Text 204">
            <a:extLst>
              <a:ext uri="{FF2B5EF4-FFF2-40B4-BE49-F238E27FC236}">
                <a16:creationId xmlns:a16="http://schemas.microsoft.com/office/drawing/2014/main" id="{CEBB6E54-D21B-90C1-B3F9-15F3B9B55765}"/>
              </a:ext>
            </a:extLst>
          </p:cNvPr>
          <p:cNvSpPr/>
          <p:nvPr/>
        </p:nvSpPr>
        <p:spPr>
          <a:xfrm>
            <a:off x="658368" y="44074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070"/>
                </a:solidFill>
              </a:rPr>
              <a:t>— Savitha m |  Codebasics RPC #21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1023</Words>
  <Application>Microsoft Office PowerPoint</Application>
  <PresentationFormat>On-screen Show (16:9)</PresentationFormat>
  <Paragraphs>145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Decoding the 2026 Tamil Nadu Assembly Election</dc:title>
  <dc:subject>PptxGenJS Presentation</dc:subject>
  <dc:creator>PptxGenJS</dc:creator>
  <cp:lastModifiedBy>malisavitackd@gmail.com</cp:lastModifiedBy>
  <cp:revision>2</cp:revision>
  <dcterms:created xsi:type="dcterms:W3CDTF">2026-06-05T08:07:13Z</dcterms:created>
  <dcterms:modified xsi:type="dcterms:W3CDTF">2026-06-06T12:07:13Z</dcterms:modified>
</cp:coreProperties>
</file>